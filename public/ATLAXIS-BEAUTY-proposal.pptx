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5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F5F7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966960" y="-411480"/>
            <a:ext cx="3017520" cy="3017520"/>
          </a:xfrm>
          <a:prstGeom prst="arc">
            <a:avLst/>
          </a:prstGeom>
          <a:solidFill>
            <a:srgbClr val="F5F7F4">
              <a:alpha val="0"/>
            </a:srgbClr>
          </a:solidFill>
          <a:ln w="19050">
            <a:solidFill>
              <a:srgbClr val="6FA1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10424160" y="4480560"/>
            <a:ext cx="2560320" cy="2560320"/>
          </a:xfrm>
          <a:prstGeom prst="arc">
            <a:avLst/>
          </a:prstGeom>
          <a:solidFill>
            <a:srgbClr val="F5F7F4">
              <a:alpha val="0"/>
            </a:srgbClr>
          </a:solidFill>
          <a:ln w="15240">
            <a:solidFill>
              <a:srgbClr val="C8D0CB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84280" y="635508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5B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6302D"/>
                </a:solidFill>
              </a:rPr>
              <a:t>Коммерческое предложение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21208" y="10789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E7D5B"/>
                </a:solidFill>
              </a:rPr>
              <a:t>Маркетинговая упаковка </a:t>
            </a:r>
            <a:r>
              <a:rPr lang="en-US" sz="1600" dirty="0" err="1">
                <a:solidFill>
                  <a:srgbClr val="2E7D5B"/>
                </a:solidFill>
              </a:rPr>
              <a:t>проекта</a:t>
            </a:r>
            <a:r>
              <a:rPr lang="en-US" sz="1600" dirty="0">
                <a:solidFill>
                  <a:srgbClr val="2E7D5B"/>
                </a:solidFill>
              </a:rPr>
              <a:t> ATLAXIS BEAUTY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8449056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74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02D"/>
                </a:solidFill>
              </a:rPr>
              <a:t>Задача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1874520"/>
            <a:ext cx="0" cy="438912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59" y="1847088"/>
            <a:ext cx="6236209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6302D"/>
                </a:solidFill>
              </a:rPr>
              <a:t>Сформировать маркетинговую основу проекта: </a:t>
            </a:r>
          </a:p>
          <a:p>
            <a:pPr marL="0" indent="0">
              <a:buNone/>
            </a:pPr>
            <a:r>
              <a:rPr lang="en-US" sz="1150" dirty="0" err="1">
                <a:solidFill>
                  <a:srgbClr val="26302D"/>
                </a:solidFill>
              </a:rPr>
              <a:t>упаковку</a:t>
            </a:r>
            <a:r>
              <a:rPr lang="en-US" sz="1150" dirty="0">
                <a:solidFill>
                  <a:srgbClr val="26302D"/>
                </a:solidFill>
              </a:rPr>
              <a:t>, SEO, структуру сайта, контент и UGC-поддержку для запуска и первых результатов.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02D"/>
                </a:solidFill>
              </a:rPr>
              <a:t>Что входит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2057400" cy="1124712"/>
          </a:xfrm>
          <a:prstGeom prst="roundRect">
            <a:avLst>
              <a:gd name="adj" fmla="val 650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35204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5B"/>
                </a:solidFill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730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2D"/>
                </a:solidFill>
              </a:rPr>
              <a:t>Упаковка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09651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41879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20 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816352" y="3383280"/>
            <a:ext cx="2057400" cy="1124712"/>
          </a:xfrm>
          <a:prstGeom prst="roundRect">
            <a:avLst>
              <a:gd name="adj" fmla="val 650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35204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5B"/>
                </a:solidFill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44952" y="3730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2D"/>
                </a:solidFill>
              </a:rPr>
              <a:t>SEO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44952" y="409651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41879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20 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84064" y="3383280"/>
            <a:ext cx="2057400" cy="1124712"/>
          </a:xfrm>
          <a:prstGeom prst="roundRect">
            <a:avLst>
              <a:gd name="adj" fmla="val 650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35204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5B"/>
                </a:solidFill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12664" y="3730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2D"/>
                </a:solidFill>
              </a:rPr>
              <a:t>Сайт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12664" y="409651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41879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40 ч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51776" y="3383280"/>
            <a:ext cx="2057400" cy="1124712"/>
          </a:xfrm>
          <a:prstGeom prst="roundRect">
            <a:avLst>
              <a:gd name="adj" fmla="val 650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79408" y="35204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5B"/>
                </a:solidFill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0376" y="3730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2D"/>
                </a:solidFill>
              </a:rPr>
              <a:t>UGC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80376" y="409651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08392" y="41879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30 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19488" y="3383280"/>
            <a:ext cx="2057400" cy="1124712"/>
          </a:xfrm>
          <a:prstGeom prst="roundRect">
            <a:avLst>
              <a:gd name="adj" fmla="val 650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47120" y="35204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5B"/>
                </a:solidFill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848088" y="3730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02D"/>
                </a:solidFill>
              </a:rPr>
              <a:t>Отчётность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848088" y="409651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76104" y="41879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10 ч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2920" y="557784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5742432"/>
            <a:ext cx="0" cy="438912"/>
          </a:xfrm>
          <a:prstGeom prst="line">
            <a:avLst/>
          </a:prstGeom>
          <a:noFill/>
          <a:ln w="12700">
            <a:solidFill>
              <a:srgbClr val="C8D0C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5742432"/>
            <a:ext cx="0" cy="438912"/>
          </a:xfrm>
          <a:prstGeom prst="line">
            <a:avLst/>
          </a:prstGeom>
          <a:noFill/>
          <a:ln w="12700">
            <a:solidFill>
              <a:srgbClr val="C8D0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573328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C7470"/>
                </a:solidFill>
              </a:rPr>
              <a:t>ИТОГО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68680" y="592531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6302D"/>
                </a:solidFill>
              </a:rPr>
              <a:t>120 часов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617720" y="573328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C7470"/>
                </a:solidFill>
              </a:rPr>
              <a:t>СТОИМОСТЬ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17720" y="592531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6302D"/>
                </a:solidFill>
              </a:rPr>
              <a:t>180 000 руб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366760" y="573328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C7470"/>
                </a:solidFill>
              </a:rPr>
              <a:t>СРОК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366760" y="592531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6302D"/>
                </a:solidFill>
              </a:rPr>
              <a:t>2 месяца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48640" y="4828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ru-RU" sz="1200" dirty="0">
                <a:solidFill>
                  <a:srgbClr val="2E7D5B"/>
                </a:solidFill>
              </a:rPr>
              <a:t>Результат</a:t>
            </a:r>
          </a:p>
          <a:p>
            <a:r>
              <a:rPr lang="ru-RU" sz="1200" dirty="0">
                <a:solidFill>
                  <a:srgbClr val="2E7D5B"/>
                </a:solidFill>
              </a:rPr>
              <a:t>Маркетинг по структуре «визиты из контента доверия </a:t>
            </a:r>
            <a:r>
              <a:rPr lang="en-US" sz="1200" dirty="0">
                <a:solidFill>
                  <a:srgbClr val="2E7D5B"/>
                </a:solidFill>
              </a:rPr>
              <a:t>→</a:t>
            </a:r>
            <a:r>
              <a:rPr lang="ru-RU" sz="1200" dirty="0">
                <a:solidFill>
                  <a:srgbClr val="2E7D5B"/>
                </a:solidFill>
              </a:rPr>
              <a:t> понятные </a:t>
            </a:r>
            <a:r>
              <a:rPr lang="ru-RU" sz="1200" dirty="0" err="1">
                <a:solidFill>
                  <a:srgbClr val="2E7D5B"/>
                </a:solidFill>
              </a:rPr>
              <a:t>утп</a:t>
            </a:r>
            <a:r>
              <a:rPr lang="ru-RU" sz="1200" dirty="0">
                <a:solidFill>
                  <a:srgbClr val="2E7D5B"/>
                </a:solidFill>
              </a:rPr>
              <a:t> и офферы на сайте </a:t>
            </a:r>
            <a:r>
              <a:rPr lang="en-US" sz="1200" dirty="0">
                <a:solidFill>
                  <a:srgbClr val="2E7D5B"/>
                </a:solidFill>
              </a:rPr>
              <a:t>→ CTA</a:t>
            </a:r>
            <a:r>
              <a:rPr lang="ru-RU" sz="1200" dirty="0">
                <a:solidFill>
                  <a:srgbClr val="2E7D5B"/>
                </a:solidFill>
              </a:rPr>
              <a:t> для действия </a:t>
            </a:r>
            <a:r>
              <a:rPr lang="en-US" sz="1200" dirty="0">
                <a:solidFill>
                  <a:srgbClr val="2E7D5B"/>
                </a:solidFill>
              </a:rPr>
              <a:t>→ </a:t>
            </a:r>
            <a:r>
              <a:rPr lang="ru-RU" sz="1200" dirty="0">
                <a:solidFill>
                  <a:srgbClr val="2E7D5B"/>
                </a:solidFill>
              </a:rPr>
              <a:t>короткий пользовательский путь до покупки</a:t>
            </a:r>
            <a:r>
              <a:rPr lang="en-US" sz="1200" dirty="0">
                <a:solidFill>
                  <a:srgbClr val="2E7D5B"/>
                </a:solidFill>
              </a:rPr>
              <a:t> → </a:t>
            </a:r>
            <a:r>
              <a:rPr lang="en-US" sz="1200" dirty="0" err="1">
                <a:solidFill>
                  <a:srgbClr val="2E7D5B"/>
                </a:solidFill>
              </a:rPr>
              <a:t>измеримые</a:t>
            </a:r>
            <a:r>
              <a:rPr lang="en-US" sz="1200" dirty="0">
                <a:solidFill>
                  <a:srgbClr val="2E7D5B"/>
                </a:solidFill>
              </a:rPr>
              <a:t> </a:t>
            </a:r>
            <a:r>
              <a:rPr lang="en-US" sz="1200" dirty="0" err="1">
                <a:solidFill>
                  <a:srgbClr val="2E7D5B"/>
                </a:solidFill>
              </a:rPr>
              <a:t>заявки</a:t>
            </a:r>
            <a:r>
              <a:rPr lang="ru-RU" sz="1200" dirty="0">
                <a:solidFill>
                  <a:srgbClr val="2E7D5B"/>
                </a:solidFill>
              </a:rPr>
              <a:t>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F5F7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966960" y="-411480"/>
            <a:ext cx="3017520" cy="3017520"/>
          </a:xfrm>
          <a:prstGeom prst="arc">
            <a:avLst/>
          </a:prstGeom>
          <a:solidFill>
            <a:srgbClr val="F5F7F4">
              <a:alpha val="0"/>
            </a:srgbClr>
          </a:solidFill>
          <a:ln w="19050">
            <a:solidFill>
              <a:srgbClr val="6FA1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10424160" y="4480560"/>
            <a:ext cx="2560320" cy="2560320"/>
          </a:xfrm>
          <a:prstGeom prst="arc">
            <a:avLst/>
          </a:prstGeom>
          <a:solidFill>
            <a:srgbClr val="F5F7F4">
              <a:alpha val="0"/>
            </a:srgbClr>
          </a:solidFill>
          <a:ln w="15240">
            <a:solidFill>
              <a:srgbClr val="C8D0C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0680" y="265176"/>
            <a:ext cx="1143000" cy="0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84280" y="635508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5B"/>
                </a:solidFill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6302D"/>
                </a:solidFill>
              </a:rPr>
              <a:t>1. Маркетинговая упаковка проекта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21207" y="1078992"/>
            <a:ext cx="84752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ru-RU" sz="1200" dirty="0">
                <a:solidFill>
                  <a:schemeClr val="accent6">
                    <a:lumMod val="75000"/>
                  </a:schemeClr>
                </a:solidFill>
              </a:rPr>
              <a:t>Создаём СМЫСЛ: к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лиент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понимает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назначение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сайта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ценность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услуги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и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преимущества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</a:rPr>
              <a:t>выбора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6459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20 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Зачем это нужно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7043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создать СМЫСЛ, понятный клиенту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80467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043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клиент понимал назначение сайта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80467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7043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клиент видел ценность услуги и преимущества выбора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4343400" y="2240280"/>
            <a:ext cx="3520440" cy="3127248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Что делаем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9943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943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6519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Анализ рынка и конкурентов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4599432" y="3547872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543300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65192" y="3529584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Позиционирование проекта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4599432" y="3986784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3982212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65192" y="3968496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3 ключевых УТП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4599432" y="442569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442112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65192" y="440740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Концепция коммуникации</a:t>
            </a:r>
            <a:endParaRPr lang="en-US" sz="1160" dirty="0"/>
          </a:p>
        </p:txBody>
      </p:sp>
      <p:sp>
        <p:nvSpPr>
          <p:cNvPr id="41" name="Shape 39"/>
          <p:cNvSpPr/>
          <p:nvPr/>
        </p:nvSpPr>
        <p:spPr>
          <a:xfrm>
            <a:off x="4599432" y="486460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486003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65192" y="484632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Пользовательские пути</a:t>
            </a:r>
            <a:endParaRPr lang="en-US" sz="1160" dirty="0"/>
          </a:p>
        </p:txBody>
      </p:sp>
      <p:sp>
        <p:nvSpPr>
          <p:cNvPr id="44" name="Shape 42"/>
          <p:cNvSpPr/>
          <p:nvPr/>
        </p:nvSpPr>
        <p:spPr>
          <a:xfrm>
            <a:off x="813816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9419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Польза для заказчика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9419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9419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3991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75995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Понятный образ проекта для клиента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839419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991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75995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Сильные офферы для сайта и рекламы</a:t>
            </a:r>
            <a:endParaRPr lang="en-US" sz="1160" dirty="0"/>
          </a:p>
        </p:txBody>
      </p:sp>
      <p:sp>
        <p:nvSpPr>
          <p:cNvPr id="53" name="Shape 51"/>
          <p:cNvSpPr/>
          <p:nvPr/>
        </p:nvSpPr>
        <p:spPr>
          <a:xfrm>
            <a:off x="839419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991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75995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ru-RU" sz="1160" dirty="0">
                <a:solidFill>
                  <a:srgbClr val="26302D"/>
                </a:solidFill>
              </a:rPr>
              <a:t>Явные</a:t>
            </a:r>
            <a:r>
              <a:rPr lang="en-US" sz="1160" dirty="0">
                <a:solidFill>
                  <a:srgbClr val="26302D"/>
                </a:solidFill>
              </a:rPr>
              <a:t> </a:t>
            </a:r>
            <a:r>
              <a:rPr lang="en-US" sz="1160" dirty="0" err="1">
                <a:solidFill>
                  <a:srgbClr val="26302D"/>
                </a:solidFill>
              </a:rPr>
              <a:t>причин</a:t>
            </a:r>
            <a:r>
              <a:rPr lang="ru-RU" sz="1160" dirty="0">
                <a:solidFill>
                  <a:srgbClr val="26302D"/>
                </a:solidFill>
              </a:rPr>
              <a:t>ы</a:t>
            </a:r>
            <a:r>
              <a:rPr lang="en-US" sz="1160" dirty="0">
                <a:solidFill>
                  <a:srgbClr val="26302D"/>
                </a:solidFill>
              </a:rPr>
              <a:t> оставить заявку</a:t>
            </a:r>
            <a:endParaRPr lang="en-US" sz="1160" dirty="0"/>
          </a:p>
        </p:txBody>
      </p:sp>
      <p:sp>
        <p:nvSpPr>
          <p:cNvPr id="56" name="Shape 54"/>
          <p:cNvSpPr/>
          <p:nvPr/>
        </p:nvSpPr>
        <p:spPr>
          <a:xfrm>
            <a:off x="8366760" y="1143000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E8ECE9"/>
          </a:solidFill>
          <a:ln w="12700">
            <a:solidFill>
              <a:srgbClr val="C8D0C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49640" y="122529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C7470"/>
                </a:solidFill>
              </a:rPr>
              <a:t>как все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9646920" y="1170432"/>
            <a:ext cx="365760" cy="246888"/>
          </a:xfrm>
          <a:prstGeom prst="chevron">
            <a:avLst/>
          </a:prstGeom>
          <a:solidFill>
            <a:srgbClr val="6FA17B">
              <a:alpha val="85000"/>
            </a:srgbClr>
          </a:solidFill>
          <a:ln w="12700">
            <a:solidFill>
              <a:srgbClr val="6FA17B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49840" y="1069848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E6F0E8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87000" y="120700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5B"/>
                </a:solidFill>
              </a:rPr>
              <a:t>выбирают вас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02920" y="548640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" y="5614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2D"/>
                </a:solidFill>
              </a:rPr>
              <a:t>Результат этапа: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651760" y="5568696"/>
            <a:ext cx="0" cy="347472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34640" y="56144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</a:rPr>
              <a:t>Понятный клиенту смысл проекта: зачем сайт, в чём ценность услуги и почему стоит выбрать именно вас.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F5F7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966960" y="-411480"/>
            <a:ext cx="3017520" cy="3017520"/>
          </a:xfrm>
          <a:prstGeom prst="arc">
            <a:avLst/>
          </a:prstGeom>
          <a:solidFill>
            <a:srgbClr val="F5F7F4">
              <a:alpha val="0"/>
            </a:srgbClr>
          </a:solidFill>
          <a:ln w="19050">
            <a:solidFill>
              <a:srgbClr val="6FA1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10424160" y="4480560"/>
            <a:ext cx="2560320" cy="2560320"/>
          </a:xfrm>
          <a:prstGeom prst="arc">
            <a:avLst/>
          </a:prstGeom>
          <a:solidFill>
            <a:srgbClr val="F5F7F4">
              <a:alpha val="0"/>
            </a:srgbClr>
          </a:solidFill>
          <a:ln w="15240">
            <a:solidFill>
              <a:srgbClr val="C8D0C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C7470"/>
                </a:solidFill>
              </a:rPr>
              <a:t>BEAUTY BUSINESS  •  СТРАТЕГИЯ  •  РЕЗУЛЬТАТ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40680" y="265176"/>
            <a:ext cx="1143000" cy="0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84280" y="635508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5B"/>
                </a:solidFill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6302D"/>
                </a:solidFill>
              </a:rPr>
              <a:t>2. SEO-проработка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21208" y="10789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E7D5B"/>
                </a:solidFill>
              </a:rPr>
              <a:t>Делаем так, чтобы сайт мог находиться в поиске и собирать органический трафик.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6459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20 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02D"/>
                </a:solidFill>
              </a:rPr>
              <a:t>На пальцах: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527048"/>
            <a:ext cx="47548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6302D"/>
                </a:solidFill>
              </a:rPr>
              <a:t>SEO — это как поставить вывеску на оживлённой улице: с отработанным SEO сайт появляется в поиске по нужным запросам.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Зачем это нужно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7043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сайт корректно индексировался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80467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043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страницы создавались под реальные запросы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80467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7043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сайт не зависел только от рекламы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434340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Что делаем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9943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943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6519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Семантика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4599432" y="3547872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543300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65192" y="3529584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Кластеризация запросов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4599432" y="3986784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3982212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65192" y="3968496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Структура сайта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4599432" y="442569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442112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65192" y="440740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SEO-заголовки и подзаголовки</a:t>
            </a:r>
            <a:endParaRPr lang="en-US" sz="1160" dirty="0"/>
          </a:p>
        </p:txBody>
      </p:sp>
      <p:sp>
        <p:nvSpPr>
          <p:cNvPr id="41" name="Shape 39"/>
          <p:cNvSpPr/>
          <p:nvPr/>
        </p:nvSpPr>
        <p:spPr>
          <a:xfrm>
            <a:off x="813816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Польза для заказчика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9419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9419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991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75995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Сайт появляется в поисковой выдаче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839419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3991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75995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Растёт бесплатный поисковый трафик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839419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991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75995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Понятная структура для людей и поисковиков</a:t>
            </a:r>
            <a:endParaRPr lang="en-US" sz="1160" dirty="0"/>
          </a:p>
        </p:txBody>
      </p:sp>
      <p:sp>
        <p:nvSpPr>
          <p:cNvPr id="53" name="Shape 51"/>
          <p:cNvSpPr/>
          <p:nvPr/>
        </p:nvSpPr>
        <p:spPr>
          <a:xfrm>
            <a:off x="8321040" y="1097280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03920" y="1207008"/>
            <a:ext cx="1463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C7470"/>
                </a:solidFill>
              </a:rPr>
              <a:t>поиск: услуга beauty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549640" y="1572768"/>
            <a:ext cx="2514600" cy="347472"/>
          </a:xfrm>
          <a:prstGeom prst="roundRect">
            <a:avLst>
              <a:gd name="adj" fmla="val 10526"/>
            </a:avLst>
          </a:prstGeom>
          <a:solidFill>
            <a:srgbClr val="E6F0E8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16733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B"/>
                </a:solidFill>
              </a:rPr>
              <a:t>ваш сайт в выдаче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02920" y="548640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5614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2D"/>
                </a:solidFill>
              </a:rPr>
              <a:t>Результат этапа: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651760" y="5568696"/>
            <a:ext cx="0" cy="347472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4640" y="56144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</a:rPr>
              <a:t>SEO-основа сайта и карта ключевых страниц для дальнейшего роста.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F5F7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966960" y="-411480"/>
            <a:ext cx="3017520" cy="3017520"/>
          </a:xfrm>
          <a:prstGeom prst="arc">
            <a:avLst/>
          </a:prstGeom>
          <a:solidFill>
            <a:srgbClr val="F5F7F4">
              <a:alpha val="0"/>
            </a:srgbClr>
          </a:solidFill>
          <a:ln w="19050">
            <a:solidFill>
              <a:srgbClr val="6FA1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10424160" y="4480560"/>
            <a:ext cx="2560320" cy="2560320"/>
          </a:xfrm>
          <a:prstGeom prst="arc">
            <a:avLst/>
          </a:prstGeom>
          <a:solidFill>
            <a:srgbClr val="F5F7F4">
              <a:alpha val="0"/>
            </a:srgbClr>
          </a:solidFill>
          <a:ln w="15240">
            <a:solidFill>
              <a:srgbClr val="C8D0C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C7470"/>
                </a:solidFill>
              </a:rPr>
              <a:t>BEAUTY BUSINESS  •  СТРАТЕГИЯ  •  РЕЗУЛЬТАТ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40680" y="265176"/>
            <a:ext cx="1143000" cy="0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84280" y="635508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5B"/>
                </a:solidFill>
              </a:rPr>
              <a:t>04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6302D"/>
                </a:solidFill>
              </a:rPr>
              <a:t>3. Маркетинговая проработка сайта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21208" y="10789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E7D5B"/>
                </a:solidFill>
              </a:rPr>
              <a:t>Строим сайт как инструмент, который ведёт пользователя к заявке.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6459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40 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02D"/>
                </a:solidFill>
              </a:rPr>
              <a:t>На пальцах: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527048"/>
            <a:ext cx="47548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6302D"/>
                </a:solidFill>
              </a:rPr>
              <a:t>Страница должна вести человека по шагам: зашёл → понял услугу → увидел выгоду → нажал кнопку → оставил заявку/оплатил.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Зачем это нужно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7043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сайт не просто выглядел красиво, а продавал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80467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043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пользователь понимал следующий шаг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80467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7043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путь от захода до заявки был логичным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434340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Что делаем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9943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943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6519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Структура ключевых страниц до 7 страниц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4599432" y="3547872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543300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65192" y="3529584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Блоки, CTA, офферы, тексты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4599432" y="3986784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3982212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65192" y="3968496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Корректировки после сборки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4599432" y="442569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442112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65192" y="440740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Путь: заход → CTA → оплата → услуга</a:t>
            </a:r>
            <a:endParaRPr lang="en-US" sz="1160" dirty="0"/>
          </a:p>
        </p:txBody>
      </p:sp>
      <p:sp>
        <p:nvSpPr>
          <p:cNvPr id="41" name="Shape 39"/>
          <p:cNvSpPr/>
          <p:nvPr/>
        </p:nvSpPr>
        <p:spPr>
          <a:xfrm>
            <a:off x="4599432" y="486460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486003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65192" y="484632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Счётчик и цели Я. Метрики</a:t>
            </a:r>
            <a:endParaRPr lang="en-US" sz="1160" dirty="0"/>
          </a:p>
        </p:txBody>
      </p:sp>
      <p:sp>
        <p:nvSpPr>
          <p:cNvPr id="44" name="Shape 42"/>
          <p:cNvSpPr/>
          <p:nvPr/>
        </p:nvSpPr>
        <p:spPr>
          <a:xfrm>
            <a:off x="813816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9419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Польза для заказчика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9419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9419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3991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75995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Выше конверсия сайта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839419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991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75995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Понятная подача услуг и преимуществ</a:t>
            </a:r>
            <a:endParaRPr lang="en-US" sz="1160" dirty="0"/>
          </a:p>
        </p:txBody>
      </p:sp>
      <p:sp>
        <p:nvSpPr>
          <p:cNvPr id="53" name="Shape 51"/>
          <p:cNvSpPr/>
          <p:nvPr/>
        </p:nvSpPr>
        <p:spPr>
          <a:xfrm>
            <a:off x="839419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991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75995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Можно измерять эффективность</a:t>
            </a:r>
            <a:endParaRPr lang="en-US" sz="1160" dirty="0"/>
          </a:p>
        </p:txBody>
      </p:sp>
      <p:sp>
        <p:nvSpPr>
          <p:cNvPr id="56" name="Shape 54"/>
          <p:cNvSpPr/>
          <p:nvPr/>
        </p:nvSpPr>
        <p:spPr>
          <a:xfrm>
            <a:off x="8275320" y="107899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1709928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470"/>
                </a:solidFill>
              </a:rPr>
              <a:t>заход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878824" y="1225296"/>
            <a:ext cx="256032" cy="237744"/>
          </a:xfrm>
          <a:prstGeom prst="chevron">
            <a:avLst/>
          </a:prstGeom>
          <a:solidFill>
            <a:srgbClr val="6FA17B">
              <a:alpha val="85000"/>
            </a:srgbClr>
          </a:solidFill>
          <a:ln w="12700">
            <a:solidFill>
              <a:srgbClr val="6FA17B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00" y="107899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98280" y="1709928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470"/>
                </a:solidFill>
              </a:rPr>
              <a:t>выгода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747504" y="1225296"/>
            <a:ext cx="256032" cy="237744"/>
          </a:xfrm>
          <a:prstGeom prst="chevron">
            <a:avLst/>
          </a:prstGeom>
          <a:solidFill>
            <a:srgbClr val="6FA17B">
              <a:alpha val="85000"/>
            </a:srgbClr>
          </a:solidFill>
          <a:ln w="12700">
            <a:solidFill>
              <a:srgbClr val="6FA17B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58400" y="107899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012680" y="1709928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470"/>
                </a:solidFill>
              </a:rPr>
              <a:t>CTA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0661904" y="1225296"/>
            <a:ext cx="256032" cy="237744"/>
          </a:xfrm>
          <a:prstGeom prst="chevron">
            <a:avLst/>
          </a:prstGeom>
          <a:solidFill>
            <a:srgbClr val="6FA17B">
              <a:alpha val="85000"/>
            </a:srgbClr>
          </a:solidFill>
          <a:ln w="12700">
            <a:solidFill>
              <a:srgbClr val="6FA17B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972800" y="1078992"/>
            <a:ext cx="566928" cy="56692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927080" y="1709928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7D5B"/>
                </a:solidFill>
              </a:rPr>
              <a:t>заявка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02920" y="548640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5614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2D"/>
                </a:solidFill>
              </a:rPr>
              <a:t>Результат этапа: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2651760" y="5568696"/>
            <a:ext cx="0" cy="347472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34640" y="56144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</a:rPr>
              <a:t>Готовая маркетинговая структура сайта и настроенная аналитика.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F5F7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966960" y="-411480"/>
            <a:ext cx="3017520" cy="3017520"/>
          </a:xfrm>
          <a:prstGeom prst="arc">
            <a:avLst/>
          </a:prstGeom>
          <a:solidFill>
            <a:srgbClr val="F5F7F4">
              <a:alpha val="0"/>
            </a:srgbClr>
          </a:solidFill>
          <a:ln w="19050">
            <a:solidFill>
              <a:srgbClr val="6FA1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10424160" y="4480560"/>
            <a:ext cx="2560320" cy="2560320"/>
          </a:xfrm>
          <a:prstGeom prst="arc">
            <a:avLst/>
          </a:prstGeom>
          <a:solidFill>
            <a:srgbClr val="F5F7F4">
              <a:alpha val="0"/>
            </a:srgbClr>
          </a:solidFill>
          <a:ln w="15240">
            <a:solidFill>
              <a:srgbClr val="C8D0C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C7470"/>
                </a:solidFill>
              </a:rPr>
              <a:t>BEAUTY BUSINESS  •  СТРАТЕГИЯ  •  РЕЗУЛЬТАТ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40680" y="265176"/>
            <a:ext cx="1143000" cy="0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84280" y="635508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5B"/>
                </a:solidFill>
              </a:rPr>
              <a:t>05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6302D"/>
                </a:solidFill>
              </a:rPr>
              <a:t>4. Работа с UGC-креаторами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21208" y="10789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E7D5B"/>
                </a:solidFill>
              </a:rPr>
              <a:t>Подключаем живой контент, который повышает доверие к проекту.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6459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30 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02D"/>
                </a:solidFill>
              </a:rPr>
              <a:t>На пальцах: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527048"/>
            <a:ext cx="47548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6302D"/>
                </a:solidFill>
              </a:rPr>
              <a:t>UGC — это живые примеры: клиент видит реального человека и быстрее доверяет услуге, чем только тексту на сайте.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Зачем это нужно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7043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усилить доверие к бренду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80467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043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показать услугу через реальный опыт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80467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7043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получить контент для сайта и соцсетей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434340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Что делаем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9943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943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6519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Концепция контента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4599432" y="3547872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543300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65192" y="3529584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Поиск и отбор 3–4 авторов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4599432" y="3986784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3982212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65192" y="3968496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Постановка ТЗ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4599432" y="442569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442112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65192" y="440740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Контроль публикаций в течение 1 месяца</a:t>
            </a:r>
            <a:endParaRPr lang="en-US" sz="1160" dirty="0"/>
          </a:p>
        </p:txBody>
      </p:sp>
      <p:sp>
        <p:nvSpPr>
          <p:cNvPr id="41" name="Shape 39"/>
          <p:cNvSpPr/>
          <p:nvPr/>
        </p:nvSpPr>
        <p:spPr>
          <a:xfrm>
            <a:off x="813816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Польза для заказчика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9419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9419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991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75995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Социальное доказательство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839419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3991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75995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Рост узнаваемости и вовлечения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839419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991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75995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Дополнительные касания с аудиторией</a:t>
            </a:r>
            <a:endParaRPr lang="en-US" sz="1160" dirty="0"/>
          </a:p>
        </p:txBody>
      </p:sp>
      <p:sp>
        <p:nvSpPr>
          <p:cNvPr id="53" name="Shape 51"/>
          <p:cNvSpPr/>
          <p:nvPr/>
        </p:nvSpPr>
        <p:spPr>
          <a:xfrm>
            <a:off x="8321040" y="1033272"/>
            <a:ext cx="78638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77072" y="1115568"/>
            <a:ext cx="274320" cy="274320"/>
          </a:xfrm>
          <a:prstGeom prst="ellipse">
            <a:avLst/>
          </a:prstGeom>
          <a:solidFill>
            <a:srgbClr val="6FA17B"/>
          </a:solidFill>
          <a:ln w="12700">
            <a:solidFill>
              <a:srgbClr val="6FA17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94776" y="1481328"/>
            <a:ext cx="438912" cy="73152"/>
          </a:xfrm>
          <a:prstGeom prst="rect">
            <a:avLst/>
          </a:prstGeom>
          <a:solidFill>
            <a:srgbClr val="C8D0CB"/>
          </a:solidFill>
          <a:ln w="12700">
            <a:solidFill>
              <a:srgbClr val="C8D0C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72600" y="1033272"/>
            <a:ext cx="78638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28632" y="1115568"/>
            <a:ext cx="274320" cy="274320"/>
          </a:xfrm>
          <a:prstGeom prst="ellipse">
            <a:avLst/>
          </a:prstGeom>
          <a:solidFill>
            <a:srgbClr val="6FA17B"/>
          </a:solidFill>
          <a:ln w="12700">
            <a:solidFill>
              <a:srgbClr val="6FA17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46336" y="1481328"/>
            <a:ext cx="438912" cy="73152"/>
          </a:xfrm>
          <a:prstGeom prst="rect">
            <a:avLst/>
          </a:prstGeom>
          <a:solidFill>
            <a:srgbClr val="C8D0CB"/>
          </a:solidFill>
          <a:ln w="12700">
            <a:solidFill>
              <a:srgbClr val="C8D0C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24160" y="1033272"/>
            <a:ext cx="78638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680192" y="1115568"/>
            <a:ext cx="274320" cy="274320"/>
          </a:xfrm>
          <a:prstGeom prst="ellipse">
            <a:avLst/>
          </a:prstGeom>
          <a:solidFill>
            <a:srgbClr val="6FA17B"/>
          </a:solidFill>
          <a:ln w="12700">
            <a:solidFill>
              <a:srgbClr val="6FA17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97896" y="1481328"/>
            <a:ext cx="438912" cy="73152"/>
          </a:xfrm>
          <a:prstGeom prst="rect">
            <a:avLst/>
          </a:prstGeom>
          <a:solidFill>
            <a:srgbClr val="C8D0CB"/>
          </a:solidFill>
          <a:ln w="12700">
            <a:solidFill>
              <a:srgbClr val="C8D0C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18520" y="130759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B"/>
                </a:solidFill>
              </a:rPr>
              <a:t>доверие ↑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02920" y="548640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" y="5614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2D"/>
                </a:solidFill>
              </a:rPr>
              <a:t>Результат этапа: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2651760" y="5568696"/>
            <a:ext cx="0" cy="347472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34640" y="56144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</a:rPr>
              <a:t>Подобранные креаторы и контролируемый выход UGC-контента.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F5F7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966960" y="-411480"/>
            <a:ext cx="3017520" cy="3017520"/>
          </a:xfrm>
          <a:prstGeom prst="arc">
            <a:avLst/>
          </a:prstGeom>
          <a:solidFill>
            <a:srgbClr val="F5F7F4">
              <a:alpha val="0"/>
            </a:srgbClr>
          </a:solidFill>
          <a:ln w="19050">
            <a:solidFill>
              <a:srgbClr val="6FA1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10424160" y="4480560"/>
            <a:ext cx="2560320" cy="2560320"/>
          </a:xfrm>
          <a:prstGeom prst="arc">
            <a:avLst/>
          </a:prstGeom>
          <a:solidFill>
            <a:srgbClr val="F5F7F4">
              <a:alpha val="0"/>
            </a:srgbClr>
          </a:solidFill>
          <a:ln w="15240">
            <a:solidFill>
              <a:srgbClr val="C8D0C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C7470"/>
                </a:solidFill>
              </a:rPr>
              <a:t>BEAUTY BUSINESS  •  СТРАТЕГИЯ  •  РЕЗУЛЬТАТ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40680" y="265176"/>
            <a:ext cx="1143000" cy="0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84280" y="635508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5B"/>
                </a:solidFill>
              </a:rPr>
              <a:t>06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6302D"/>
                </a:solidFill>
              </a:rPr>
              <a:t>5. Координация и отчётность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21208" y="10789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E7D5B"/>
                </a:solidFill>
              </a:rPr>
              <a:t>Управляем процессом, чтобы работа не распадалась на несвязанные задачи.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E6F0E8"/>
          </a:solidFill>
          <a:ln w="10160">
            <a:solidFill>
              <a:srgbClr val="2E7D5B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6459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</a:rPr>
              <a:t>10 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02D"/>
                </a:solidFill>
              </a:rPr>
              <a:t>На пальцах: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527048"/>
            <a:ext cx="47548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6302D"/>
                </a:solidFill>
              </a:rPr>
              <a:t>Координация собирает все работы в один процесс: понятно, что сделано, что в работе и какой результат получен.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Зачем это нужно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7043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задачи двигались синхронно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80467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043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заказчик видел ход работ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80467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7043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Чтобы вовремя вносить корректировки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434340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Что делаем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9943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943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6519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Планирование и координация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4599432" y="3547872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543300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65192" y="3529584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Промежуточные согласования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4599432" y="3986784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3982212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65192" y="3968496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Контроль сроков и статусов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4599432" y="442569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442112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65192" y="440740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Фиксация результатов и отчётность</a:t>
            </a:r>
            <a:endParaRPr lang="en-US" sz="1160" dirty="0"/>
          </a:p>
        </p:txBody>
      </p:sp>
      <p:sp>
        <p:nvSpPr>
          <p:cNvPr id="41" name="Shape 39"/>
          <p:cNvSpPr/>
          <p:nvPr/>
        </p:nvSpPr>
        <p:spPr>
          <a:xfrm>
            <a:off x="8138160" y="22402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24414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6302D"/>
                </a:solidFill>
              </a:rPr>
              <a:t>Польза для заказчика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94192" y="2898648"/>
            <a:ext cx="3008376" cy="0"/>
          </a:xfrm>
          <a:prstGeom prst="line">
            <a:avLst/>
          </a:prstGeom>
          <a:noFill/>
          <a:ln w="12700">
            <a:solidFill>
              <a:srgbClr val="6FA17B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94192" y="3108960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9912" y="3104388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759952" y="3090672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Прозрачный процесс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8394192" y="3584448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39912" y="357987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759952" y="3566160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Экономия времени на управление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8394192" y="4059936"/>
            <a:ext cx="210312" cy="21031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9912" y="4055364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759952" y="4041648"/>
            <a:ext cx="262432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6302D"/>
                </a:solidFill>
              </a:rPr>
              <a:t>Понимание, за что оплачивается работа</a:t>
            </a:r>
            <a:endParaRPr lang="en-US" sz="1160" dirty="0"/>
          </a:p>
        </p:txBody>
      </p:sp>
      <p:sp>
        <p:nvSpPr>
          <p:cNvPr id="53" name="Shape 51"/>
          <p:cNvSpPr/>
          <p:nvPr/>
        </p:nvSpPr>
        <p:spPr>
          <a:xfrm>
            <a:off x="8229600" y="1353312"/>
            <a:ext cx="283464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21040" y="1234440"/>
            <a:ext cx="237744" cy="23774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56448" y="157276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470"/>
                </a:solidFill>
              </a:rPr>
              <a:t>план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9601200" y="1234440"/>
            <a:ext cx="237744" cy="23774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36608" y="157276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470"/>
                </a:solidFill>
              </a:rPr>
              <a:t>статус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881360" y="1234440"/>
            <a:ext cx="237744" cy="23774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16768" y="157276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C7470"/>
                </a:solidFill>
              </a:rPr>
              <a:t>отчёт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02920" y="548640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" y="5614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2D"/>
                </a:solidFill>
              </a:rPr>
              <a:t>Результат этапа: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651760" y="5568696"/>
            <a:ext cx="0" cy="347472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34640" y="56144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</a:rPr>
              <a:t>Управляемый процесс и понятная отчётность по всем работам.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 w="12700">
            <a:solidFill>
              <a:srgbClr val="F5F7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966960" y="-411480"/>
            <a:ext cx="3017520" cy="3017520"/>
          </a:xfrm>
          <a:prstGeom prst="arc">
            <a:avLst/>
          </a:prstGeom>
          <a:solidFill>
            <a:srgbClr val="F5F7F4">
              <a:alpha val="0"/>
            </a:srgbClr>
          </a:solidFill>
          <a:ln w="19050">
            <a:solidFill>
              <a:srgbClr val="6FA1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10424160" y="4480560"/>
            <a:ext cx="2560320" cy="2560320"/>
          </a:xfrm>
          <a:prstGeom prst="arc">
            <a:avLst/>
          </a:prstGeom>
          <a:solidFill>
            <a:srgbClr val="F5F7F4">
              <a:alpha val="0"/>
            </a:srgbClr>
          </a:solidFill>
          <a:ln w="15240">
            <a:solidFill>
              <a:srgbClr val="C8D0C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45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C7470"/>
                </a:solidFill>
              </a:rPr>
              <a:t>BEAUTY BUSINESS  •  СТРАТЕГИЯ  •  РЕЗУЛЬТАТ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40680" y="265176"/>
            <a:ext cx="1143000" cy="0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84280" y="635508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5B"/>
                </a:solidFill>
              </a:rPr>
              <a:t>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5669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6302D"/>
                </a:solidFill>
              </a:rPr>
              <a:t>Рекомендуемые дальнейшие активности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21208" y="10789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E7D5B"/>
                </a:solidFill>
              </a:rPr>
              <a:t>Что делать после запуска, чтобы проект не остановился на первом результате.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74980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6302D"/>
                </a:solidFill>
              </a:rPr>
              <a:t>После запуска сайт уже можно измерять: какие страницы попали в поиск, откуда идут пользователи, где теряются заявки и какой контент реально помогает продажам.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E6F0E8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496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</a:rPr>
              <a:t>1 месяц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2468880"/>
            <a:ext cx="0" cy="457200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4780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02D"/>
                </a:solidFill>
              </a:rPr>
              <a:t>Снять первые данные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74920" y="2478024"/>
            <a:ext cx="5897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6302D"/>
                </a:solidFill>
              </a:rPr>
              <a:t>Проверить индексацию, посещаемость, клики, цели и первые лиды.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85800" y="333756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021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</a:rPr>
              <a:t>2–3 месяц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3474720"/>
            <a:ext cx="0" cy="457200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483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02D"/>
                </a:solidFill>
              </a:rPr>
              <a:t>Усилить SEO и контент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74920" y="3483864"/>
            <a:ext cx="5897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6302D"/>
                </a:solidFill>
              </a:rPr>
              <a:t>Доработать страницы, которые уже начали показываться, и добавить новые под спрос.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85800" y="434340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8DF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07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</a:rPr>
              <a:t>Постоянно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77440" y="4480560"/>
            <a:ext cx="0" cy="457200"/>
          </a:xfrm>
          <a:prstGeom prst="line">
            <a:avLst/>
          </a:prstGeom>
          <a:noFill/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44897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02D"/>
                </a:solidFill>
              </a:rPr>
              <a:t>Развивать UGC и рекламу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74920" y="4489704"/>
            <a:ext cx="58978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6302D"/>
                </a:solidFill>
              </a:rPr>
              <a:t>Тестировать новых креаторов, офферы, посадочные страницы и платный трафик.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85800" y="5440680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63270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Логика развития: запустили → измерили → усилили то, что приносит заявки → масштабировали.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854</Words>
  <Application>Microsoft Office PowerPoint</Application>
  <PresentationFormat>Широкоэкранный</PresentationFormat>
  <Paragraphs>225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Marketing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Маркетинговая упаковка проекта BEAUTY</dc:title>
  <dc:subject>Коммерческое предложение</dc:subject>
  <dc:creator>ChatGPT</dc:creator>
  <cp:lastModifiedBy>Екатерина Королёва</cp:lastModifiedBy>
  <cp:revision>2</cp:revision>
  <dcterms:created xsi:type="dcterms:W3CDTF">2026-09-15T13:06:55Z</dcterms:created>
  <dcterms:modified xsi:type="dcterms:W3CDTF">2026-09-15T13:13:44Z</dcterms:modified>
</cp:coreProperties>
</file>